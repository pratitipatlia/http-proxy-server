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500"/>
              </a:spcAft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6E99"/>
                </a:solidFill>
                <a:latin typeface="Cambria"/>
              </a:rPr>
              <a:t>HTTP PROXY SERVER</a:t>
            </a:r>
          </a:p>
          <a:p>
            <a:pPr algn="ctr">
              <a:spcAft>
                <a:spcPts val="500"/>
              </a:spcAft>
            </a:pPr>
            <a:r>
              <a:rPr sz="3400" b="1">
                <a:solidFill>
                  <a:srgbClr val="0B6E99"/>
                </a:solidFill>
                <a:latin typeface="Cambria"/>
              </a:rPr>
              <a:t>WITH INTELLIGENT CACHING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Calibri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Calibri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Calibri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500"/>
              </a:spcAft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00">
                <a:latin typeface="Calibri"/>
              </a:rPr>
              <a:t>Swapna Khire – 1262242618     Dishita Rao – 1262242968</a:t>
            </a:r>
          </a:p>
          <a:p>
            <a:pPr algn="ctr">
              <a:spcAft>
                <a:spcPts val="500"/>
              </a:spcAft>
            </a:pPr>
            <a:r>
              <a:rPr sz="1700">
                <a:latin typeface="Calibri"/>
              </a:rPr>
              <a:t>Navya Tiwari – 1262243688     Pratiti Patlia – 1262240974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500"/>
              </a:spcAft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latin typeface="Calibri"/>
              </a:rPr>
              <a:t>Panel J   |   Batch J1</a:t>
            </a:r>
          </a:p>
          <a:p>
            <a:pPr algn="ctr">
              <a:spcAft>
                <a:spcPts val="500"/>
              </a:spcAft>
            </a:pPr>
            <a:r>
              <a:rPr sz="1600" dirty="0">
                <a:latin typeface="Calibri"/>
              </a:rPr>
              <a:t>Faculty: Dr. Uma </a:t>
            </a:r>
            <a:r>
              <a:rPr sz="1600" dirty="0" err="1">
                <a:latin typeface="Calibri"/>
              </a:rPr>
              <a:t>Pujeri</a:t>
            </a:r>
            <a:endParaRPr sz="16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0B6E99"/>
                </a:solidFill>
                <a:latin typeface="Cambria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Calibri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00">
                <a:latin typeface="Calibri"/>
              </a:rPr>
              <a:t>Repeated HTTP requests can create avoidable origin-server traffic and latency. A basic forwarding proxy also offers limited visibility into request activity and cache effectiveness.</a:t>
            </a:r>
          </a:p>
          <a:p>
            <a:pPr>
              <a:spcAft>
                <a:spcPts val="500"/>
              </a:spcAft>
            </a:pPr>
            <a:r>
              <a:rPr sz="1700">
                <a:latin typeface="Calibri"/>
              </a:rPr>
              <a:t>This project is an educational HTTP proxy prototype for supported HTTP GET requests, with caching, domain blocking, request statistics and a live dashboard.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Calibri"/>
                <a:ea typeface="Arial"/>
                <a:cs typeface="Arial"/>
              </a:rPr>
              <a:t>Objectives</a:t>
            </a:r>
          </a:p>
        </p:txBody>
      </p:sp>
      <p:graphicFrame>
        <p:nvGraphicFramePr>
          <p:cNvPr id="9" name="Objectives table"/>
          <p:cNvGraphicFramePr>
            <a:graphicFrameLocks noGrp="1"/>
          </p:cNvGraphicFramePr>
          <p:nvPr/>
        </p:nvGraphicFramePr>
        <p:xfrm>
          <a:off x="523875" y="3714750"/>
          <a:ext cx="8096250" cy="198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640000"/>
                <a:gridCol w="4560000"/>
                <a:gridCol w="2896250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Verified by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Forward supported HTTP GET requests to the origin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cURL through proxy to local origin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Cache eligible responses; serve repeats from memory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Repeat request; check logs and stats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Expire entries (TTL) and evict old ones (LRU)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Short-TTL test; cache-manager logic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Block configured domains with an HTTP error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Request a blocked domain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O5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Expose request and cache metrics in a dashboard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Dashboard page and /api/data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0B6E99"/>
                </a:solidFill>
                <a:latin typeface="Cambria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45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latin typeface="Calibri"/>
              </a:rPr>
              <a:t>Tools: Python 3.x, socket, threading, Flask, </a:t>
            </a:r>
            <a:r>
              <a:rPr sz="1500" dirty="0" err="1">
                <a:latin typeface="Calibri"/>
              </a:rPr>
              <a:t>cURL</a:t>
            </a:r>
            <a:r>
              <a:rPr sz="1500" dirty="0">
                <a:latin typeface="Calibri"/>
              </a:rPr>
              <a:t>, Python </a:t>
            </a:r>
            <a:r>
              <a:rPr sz="1500" dirty="0" err="1">
                <a:latin typeface="Calibri"/>
              </a:rPr>
              <a:t>http.server</a:t>
            </a:r>
            <a:r>
              <a:rPr sz="1500" dirty="0">
                <a:latin typeface="Calibri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500" dirty="0">
                <a:latin typeface="Calibri"/>
              </a:rPr>
              <a:t>Protocols: HTTP over TCP; TCP provides reliable, ordered byte delivery.</a:t>
            </a:r>
          </a:p>
          <a:p>
            <a:pPr algn="l">
              <a:spcAft>
                <a:spcPts val="500"/>
              </a:spcAft>
            </a:pPr>
            <a:r>
              <a:rPr sz="1500" dirty="0">
                <a:latin typeface="Calibri"/>
              </a:rPr>
              <a:t>Addressing: Proxy 127.0.0.1:8080 | Origin 127.0.0.1:9000 | Dashboard 127.0.0.1:5000.</a:t>
            </a:r>
          </a:p>
          <a:p>
            <a:pPr algn="l">
              <a:spcAft>
                <a:spcPts val="500"/>
              </a:spcAft>
            </a:pPr>
            <a:r>
              <a:rPr sz="1500" dirty="0">
                <a:latin typeface="Calibri"/>
              </a:rPr>
              <a:t>Scope: HTTP GET with absolute-form URLs; HTTPS CONNECT tunnelling is not implemented.</a:t>
            </a:r>
          </a:p>
        </p:txBody>
      </p:sp>
      <p:sp>
        <p:nvSpPr>
          <p:cNvPr id="7" name="Client box"/>
          <p:cNvSpPr/>
          <p:nvPr/>
        </p:nvSpPr>
        <p:spPr>
          <a:xfrm>
            <a:off x="523875" y="1400000"/>
            <a:ext cx="2300000" cy="110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20375C"/>
                </a:solidFill>
                <a:latin typeface="Calibri"/>
              </a:rPr>
              <a:t>Client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cURL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Sends absolute-form HTTP URL</a:t>
            </a:r>
          </a:p>
        </p:txBody>
      </p:sp>
      <p:sp>
        <p:nvSpPr>
          <p:cNvPr id="8" name="Proxy box"/>
          <p:cNvSpPr/>
          <p:nvPr/>
        </p:nvSpPr>
        <p:spPr>
          <a:xfrm>
            <a:off x="3423875" y="1400000"/>
            <a:ext cx="2300000" cy="1100000"/>
          </a:xfrm>
          <a:prstGeom prst="roundRect">
            <a:avLst>
              <a:gd name="adj" fmla="val 8000"/>
            </a:avLst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HTTP Proxy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127.0.0.1:8080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Blocklist · Cache · Forward</a:t>
            </a:r>
          </a:p>
        </p:txBody>
      </p:sp>
      <p:sp>
        <p:nvSpPr>
          <p:cNvPr id="9" name="Origin box"/>
          <p:cNvSpPr/>
          <p:nvPr/>
        </p:nvSpPr>
        <p:spPr>
          <a:xfrm>
            <a:off x="6323875" y="1400000"/>
            <a:ext cx="2300000" cy="110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20375C"/>
                </a:solidFill>
                <a:latin typeface="Calibri"/>
              </a:rPr>
              <a:t>Origin Server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127.0.0.1:9000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Python http.server</a:t>
            </a:r>
          </a:p>
        </p:txBody>
      </p:sp>
      <p:sp>
        <p:nvSpPr>
          <p:cNvPr id="10" name="Arrow 1"/>
          <p:cNvSpPr/>
          <p:nvPr/>
        </p:nvSpPr>
        <p:spPr>
          <a:xfrm>
            <a:off x="2913875" y="1830000"/>
            <a:ext cx="420000" cy="240000"/>
          </a:xfrm>
          <a:prstGeom prst="left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row 2"/>
          <p:cNvSpPr/>
          <p:nvPr/>
        </p:nvSpPr>
        <p:spPr>
          <a:xfrm>
            <a:off x="5813875" y="1830000"/>
            <a:ext cx="420000" cy="240000"/>
          </a:xfrm>
          <a:prstGeom prst="leftRight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ashboard arrow"/>
          <p:cNvSpPr/>
          <p:nvPr/>
        </p:nvSpPr>
        <p:spPr>
          <a:xfrm>
            <a:off x="4443875" y="2590000"/>
            <a:ext cx="260000" cy="330000"/>
          </a:xfrm>
          <a:prstGeom prst="upDownArrow">
            <a:avLst/>
          </a:prstGeom>
          <a:solidFill>
            <a:srgbClr val="0B6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ashboard box"/>
          <p:cNvSpPr/>
          <p:nvPr/>
        </p:nvSpPr>
        <p:spPr>
          <a:xfrm>
            <a:off x="3423875" y="3010000"/>
            <a:ext cx="2300000" cy="86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20375C"/>
                </a:solidFill>
                <a:latin typeface="Calibri"/>
              </a:rPr>
              <a:t>Flask Dashboard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127.0.0.1:5000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Shares in-process state with proxy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0B6E99"/>
                </a:solidFill>
                <a:latin typeface="Cambria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55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500000"/>
            <a:ext cx="8096250" cy="15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</a:pPr>
            <a:r>
              <a:rPr sz="1500" dirty="0">
                <a:latin typeface="Calibri"/>
              </a:rPr>
              <a:t>Cache: in-memory storage, TTL expiry, LRU eviction and </a:t>
            </a:r>
            <a:r>
              <a:rPr sz="1500" dirty="0" err="1">
                <a:latin typeface="Calibri"/>
              </a:rPr>
              <a:t>cacheability</a:t>
            </a:r>
            <a:r>
              <a:rPr sz="1500" dirty="0">
                <a:latin typeface="Calibri"/>
              </a:rPr>
              <a:t> checks.</a:t>
            </a:r>
          </a:p>
          <a:p>
            <a:pPr>
              <a:spcAft>
                <a:spcPts val="500"/>
              </a:spcAft>
            </a:pPr>
            <a:r>
              <a:rPr sz="1500" dirty="0">
                <a:latin typeface="Calibri"/>
              </a:rPr>
              <a:t>Troubleshooting: external requests may time out; use the local Python HTTP server for repeatable tests. Keep the proxy and dashboard in the same process to share in-memory metrics.</a:t>
            </a:r>
          </a:p>
        </p:txBody>
      </p:sp>
      <p:sp>
        <p:nvSpPr>
          <p:cNvPr id="7" name="Step 1"/>
          <p:cNvSpPr/>
          <p:nvPr/>
        </p:nvSpPr>
        <p:spPr>
          <a:xfrm>
            <a:off x="523875" y="1380000"/>
            <a:ext cx="1850000" cy="130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000" rIns="1000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B6E99"/>
                </a:solidFill>
                <a:latin typeface="Calibri"/>
              </a:rPr>
              <a:t>1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0375C"/>
                </a:solidFill>
                <a:latin typeface="Calibri"/>
              </a:rPr>
              <a:t>Accept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Client TCP connection handled in a worker thread</a:t>
            </a:r>
          </a:p>
        </p:txBody>
      </p:sp>
      <p:sp>
        <p:nvSpPr>
          <p:cNvPr id="8" name="Step 2"/>
          <p:cNvSpPr/>
          <p:nvPr/>
        </p:nvSpPr>
        <p:spPr>
          <a:xfrm>
            <a:off x="2607208" y="1380000"/>
            <a:ext cx="1850000" cy="130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000" rIns="1000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B6E99"/>
                </a:solidFill>
                <a:latin typeface="Calibri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0375C"/>
                </a:solidFill>
                <a:latin typeface="Calibri"/>
              </a:rPr>
              <a:t>Parse and filter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Validate the request and check the domain blocklist</a:t>
            </a:r>
          </a:p>
        </p:txBody>
      </p:sp>
      <p:sp>
        <p:nvSpPr>
          <p:cNvPr id="9" name="Step 3"/>
          <p:cNvSpPr/>
          <p:nvPr/>
        </p:nvSpPr>
        <p:spPr>
          <a:xfrm>
            <a:off x="4690541" y="1380000"/>
            <a:ext cx="1850000" cy="130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000" rIns="1000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B6E99"/>
                </a:solidFill>
                <a:latin typeface="Calibri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0375C"/>
                </a:solidFill>
                <a:latin typeface="Calibri"/>
              </a:rPr>
              <a:t>Cache lookup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Hit: serve from memory. Miss: forward to origin</a:t>
            </a:r>
          </a:p>
        </p:txBody>
      </p:sp>
      <p:sp>
        <p:nvSpPr>
          <p:cNvPr id="10" name="Step 4"/>
          <p:cNvSpPr/>
          <p:nvPr/>
        </p:nvSpPr>
        <p:spPr>
          <a:xfrm>
            <a:off x="6773874" y="1380000"/>
            <a:ext cx="1850000" cy="13000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000" rIns="100000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0B6E99"/>
                </a:solidFill>
                <a:latin typeface="Calibri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0375C"/>
                </a:solidFill>
                <a:latin typeface="Calibri"/>
              </a:rPr>
              <a:t>Store and respond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Cache eligible response, return it, record metrics</a:t>
            </a:r>
          </a:p>
        </p:txBody>
      </p:sp>
      <p:graphicFrame>
        <p:nvGraphicFramePr>
          <p:cNvPr id="11" name="Modules table"/>
          <p:cNvGraphicFramePr>
            <a:graphicFrameLocks noGrp="1"/>
          </p:cNvGraphicFramePr>
          <p:nvPr/>
        </p:nvGraphicFramePr>
        <p:xfrm>
          <a:off x="523875" y="2900000"/>
          <a:ext cx="8096250" cy="15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0000"/>
                <a:gridCol w="5596250"/>
              </a:tblGrid>
              <a:tr h="30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main.py, config.py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Start proxy and dashboard in one process; hold host, port, TTL and blocklist settings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member1_proxy/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Listener and worker threads, request parsing, blocklist check, forwarding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member2_cache/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In-memory cache: lookup, storage, TTL expiry, LRU eviction, statistics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dashboard_state.py, dashboard.py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Bounded recent-events list; Flask page and /api/data endpoint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0B6E99"/>
                </a:solidFill>
                <a:latin typeface="Cambria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50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4300000" y="1300000"/>
            <a:ext cx="4320125" cy="19013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latin typeface="Calibri"/>
              </a:rPr>
              <a:t>Test: cURL request through proxy to local origin, then repeat the same URL.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Expected: first request is fetched and cached; the repeat is served from cache.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Observed during development: local forwarding returned HTTP 200; logs showed cache miss/store, then cache hit.</a:t>
            </a: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C1C55753-DFE9-834C-E387-ACD788EEA1C9}"/>
              </a:ext>
            </a:extLst>
          </p:cNvPr>
          <p:cNvPicPr/>
          <p:nvPr/>
        </p:nvPicPr>
        <p:blipFill>
          <a:blip r:embed="rId3"/>
          <a:srcRect l="1329" r="1495" b="6228"/>
          <a:stretch>
            <a:fillRect/>
          </a:stretch>
        </p:blipFill>
        <p:spPr>
          <a:xfrm>
            <a:off x="523875" y="1300000"/>
            <a:ext cx="3500000" cy="1621367"/>
          </a:xfrm>
          <a:prstGeom prst="rect">
            <a:avLst/>
          </a:prstGeom>
          <a:ln/>
        </p:spPr>
      </p:pic>
      <p:sp>
        <p:nvSpPr>
          <p:cNvPr id="8" name="Screenshot caption"/>
          <p:cNvSpPr txBox="1"/>
          <p:nvPr/>
        </p:nvSpPr>
        <p:spPr>
          <a:xfrm>
            <a:off x="523875" y="2971367"/>
            <a:ext cx="350000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Dashboard snapshot: 7 requests, 3 hits, 4 misses</a:t>
            </a:r>
          </a:p>
        </p:txBody>
      </p:sp>
      <p:graphicFrame>
        <p:nvGraphicFramePr>
          <p:cNvPr id="9" name="Test results table"/>
          <p:cNvGraphicFramePr>
            <a:graphicFrameLocks noGrp="1"/>
          </p:cNvGraphicFramePr>
          <p:nvPr/>
        </p:nvGraphicFramePr>
        <p:xfrm>
          <a:off x="523875" y="3500000"/>
          <a:ext cx="8096250" cy="228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20000"/>
                <a:gridCol w="3330000"/>
                <a:gridCol w="2400000"/>
                <a:gridCol w="1846250"/>
              </a:tblGrid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B6E99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GET / through proxy to local origin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Origin response relayed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7F3B"/>
                          </a:solidFill>
                          <a:latin typeface="Calibri"/>
                        </a:rPr>
                        <a:t>Observed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Repeat the same eligible GET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Miss and store, then hit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7F3B"/>
                          </a:solidFill>
                          <a:latin typeface="Calibri"/>
                        </a:rPr>
                        <a:t>Observed pass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Request blocked domain (example.com)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HTTP 403, not forwarded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9A5B00"/>
                          </a:solidFill>
                          <a:latin typeface="Calibri"/>
                        </a:rPr>
                        <a:t>Re-run to capture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Repeat request after short TTL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Expired entry not served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9A5B00"/>
                          </a:solidFill>
                          <a:latin typeface="Calibri"/>
                        </a:rPr>
                        <a:t>Re-run to capture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Open dashboard and /api/data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Metrics endpoint responds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9A5B00"/>
                          </a:solidFill>
                          <a:latin typeface="Calibri"/>
                        </a:rPr>
                        <a:t>Re-run to capture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Request a nonexistent local path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Origin error relayed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9A5B00"/>
                          </a:solidFill>
                          <a:latin typeface="Calibri"/>
                        </a:rPr>
                        <a:t>Re-run to capture</a:t>
                      </a:r>
                    </a:p>
                  </a:txBody>
                  <a:tcPr marL="73152" marR="73152" marT="27432" marB="27432" anchor="ctr">
                    <a:solidFill>
                      <a:srgbClr val="F4F8FA"/>
                    </a:solidFill>
                  </a:tcPr>
                </a:tc>
              </a:tr>
              <a:tr h="2850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0375C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Two concurrent requests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33333"/>
                          </a:solidFill>
                          <a:latin typeface="Calibri"/>
                        </a:rPr>
                        <a:t>Listener not blocked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9A5B00"/>
                          </a:solidFill>
                          <a:latin typeface="Calibri"/>
                        </a:rPr>
                        <a:t>Re-run to capture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enchmark note"/>
          <p:cNvSpPr txBox="1"/>
          <p:nvPr/>
        </p:nvSpPr>
        <p:spPr>
          <a:xfrm>
            <a:off x="523875" y="5900000"/>
            <a:ext cx="8096250" cy="2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No formal performance benchmark is claimed; latency and traffic reduction are not quantified.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0B6E99"/>
                </a:solidFill>
                <a:latin typeface="Cambria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712411" y="1004888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202020"/>
                </a:solidFill>
                <a:latin typeface="Calibri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319213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0"/>
              </a:spcAft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latin typeface="Calibri"/>
              </a:rPr>
              <a:t>Core feature: demonstrate HTTP forwarding, caching and domain blocking.</a:t>
            </a:r>
            <a:endParaRPr lang="en-IN" sz="1800" b="1" dirty="0">
              <a:latin typeface="Calibri"/>
            </a:endParaRPr>
          </a:p>
          <a:p>
            <a:pPr>
              <a:spcAft>
                <a:spcPts val="0"/>
              </a:spcAft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1" dirty="0"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476250" y="1907381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latin typeface="Calibri"/>
              </a:rPr>
              <a:t>1. Start origin: python -m </a:t>
            </a:r>
            <a:r>
              <a:rPr sz="1600" dirty="0" err="1">
                <a:latin typeface="Calibri"/>
              </a:rPr>
              <a:t>http.server</a:t>
            </a:r>
            <a:r>
              <a:rPr sz="1600" dirty="0">
                <a:latin typeface="Calibri"/>
              </a:rPr>
              <a:t> 9000 --bind 127.0.0.1</a:t>
            </a:r>
          </a:p>
          <a:p>
            <a:pPr>
              <a:spcAft>
                <a:spcPts val="500"/>
              </a:spcAft>
            </a:pPr>
            <a:r>
              <a:rPr sz="1600" dirty="0">
                <a:latin typeface="Calibri"/>
              </a:rPr>
              <a:t>2. Start the project: python main.py</a:t>
            </a:r>
          </a:p>
          <a:p>
            <a:pPr>
              <a:spcAft>
                <a:spcPts val="500"/>
              </a:spcAft>
            </a:pPr>
            <a:r>
              <a:rPr sz="1600" dirty="0">
                <a:latin typeface="Calibri"/>
              </a:rPr>
              <a:t>3. Run: curl.exe -</a:t>
            </a:r>
            <a:r>
              <a:rPr sz="1600" dirty="0" err="1">
                <a:latin typeface="Calibri"/>
              </a:rPr>
              <a:t>i</a:t>
            </a:r>
            <a:r>
              <a:rPr sz="1600" dirty="0">
                <a:latin typeface="Calibri"/>
              </a:rPr>
              <a:t> -x http://127.0.0.1:8080 http://127.0.0.1:9000/</a:t>
            </a:r>
          </a:p>
          <a:p>
            <a:pPr>
              <a:spcAft>
                <a:spcPts val="500"/>
              </a:spcAft>
            </a:pPr>
            <a:r>
              <a:rPr sz="1600" dirty="0">
                <a:latin typeface="Calibri"/>
              </a:rPr>
              <a:t>4. Repeat the exact command and show CACHE HIT in the logs/dashboard.</a:t>
            </a:r>
          </a:p>
          <a:p>
            <a:pPr>
              <a:spcAft>
                <a:spcPts val="500"/>
              </a:spcAft>
            </a:pPr>
            <a:r>
              <a:rPr sz="1600" dirty="0">
                <a:latin typeface="Calibri"/>
              </a:rPr>
              <a:t>5. Request http://example.com/ when it is configured as blocked.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500" dirty="0">
              <a:latin typeface="Calibri"/>
            </a:endParaRP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AF89980C-61F4-4A0D-D64D-8C2B590CD878}"/>
              </a:ext>
            </a:extLst>
          </p:cNvPr>
          <p:cNvPicPr/>
          <p:nvPr/>
        </p:nvPicPr>
        <p:blipFill>
          <a:blip r:embed="rId3"/>
          <a:srcRect l="1329" r="1495" b="6228"/>
          <a:stretch>
            <a:fillRect/>
          </a:stretch>
        </p:blipFill>
        <p:spPr>
          <a:xfrm>
            <a:off x="65987" y="3627458"/>
            <a:ext cx="5572125" cy="2581275"/>
          </a:xfrm>
          <a:prstGeom prst="rect">
            <a:avLst/>
          </a:prstGeom>
          <a:ln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34535C-7B2D-AD02-1A25-263CC6E65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796"/>
          <a:stretch>
            <a:fillRect/>
          </a:stretch>
        </p:blipFill>
        <p:spPr>
          <a:xfrm>
            <a:off x="5666394" y="3793331"/>
            <a:ext cx="3373912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0B6E99"/>
                </a:solidFill>
                <a:latin typeface="Cambria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latin typeface="Calibri"/>
              </a:rPr>
              <a:t>Outcome: working educational HTTP proxy with forwarding, blocklist, in-memory cache and dashboard.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Application: learning, request filtering, and observing repeated-resource caching.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Limitation: no HTTPS CONNECT tunnelling; cache is lost on process restart; only a subset of HTTP behaviour is supported.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Future scope: HTTPS tunnelling, persistent cache, stronger HTTP compliance and controlled performance tests.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3810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latin typeface="Calibri"/>
              </a:rPr>
              <a:t>Swapna Khire – Analytics and dashboard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Dishita Rao – Configuration, test plan and integration setup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Navya Tiwari – Cache implementation</a:t>
            </a:r>
          </a:p>
          <a:p>
            <a:pPr>
              <a:spcAft>
                <a:spcPts val="500"/>
              </a:spcAft>
            </a:pPr>
            <a:r>
              <a:rPr sz="1500">
                <a:latin typeface="Calibri"/>
              </a:rPr>
              <a:t>Pratiti Patlia – Proxy server and HTTP handling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0"/>
              </a:spcAft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>
                <a:latin typeface="Calibri"/>
              </a:rPr>
              <a:t>AI use: assistance used to organize report sections and clarify networking concepts; the team is responsible for verifying implementation and results.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B6E99"/>
                </a:solidFill>
                <a:latin typeface="Cambria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Calibri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>
                <a:latin typeface="Calibri"/>
              </a:rPr>
              <a:t>[1] R. Fielding, M. Nottingham and J. Reschke, “HTTP Semantics,” RFC 9110, IETF, June 2022.</a:t>
            </a:r>
          </a:p>
          <a:p>
            <a:pPr>
              <a:spcAft>
                <a:spcPts val="500"/>
              </a:spcAft>
            </a:pPr>
            <a:r>
              <a:rPr sz="1600">
                <a:latin typeface="Calibri"/>
              </a:rPr>
              <a:t>    https://www.rfc-editor.org/rfc/rfc9110</a:t>
            </a:r>
          </a:p>
          <a:p>
            <a:pPr>
              <a:spcAft>
                <a:spcPts val="500"/>
              </a:spcAft>
            </a:pPr>
            <a:endParaRPr sz="1600"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>
                <a:latin typeface="Calibri"/>
              </a:rPr>
              <a:t>[2] R. Fielding, M. Nottingham and J. Reschke, “HTTP Caching,” RFC 9111, IETF, June 2022.</a:t>
            </a:r>
          </a:p>
          <a:p>
            <a:pPr>
              <a:spcAft>
                <a:spcPts val="500"/>
              </a:spcAft>
            </a:pPr>
            <a:r>
              <a:rPr sz="1600">
                <a:latin typeface="Calibri"/>
              </a:rPr>
              <a:t>    https://www.rfc-editor.org/rfc/rfc9111</a:t>
            </a:r>
          </a:p>
          <a:p>
            <a:pPr>
              <a:spcAft>
                <a:spcPts val="500"/>
              </a:spcAft>
            </a:pPr>
            <a:endParaRPr sz="1600"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600">
                <a:latin typeface="Calibri"/>
              </a:rPr>
              <a:t>[3] Python Software Foundation, “socket — Low-level networking interface.”</a:t>
            </a:r>
          </a:p>
          <a:p>
            <a:pPr>
              <a:spcAft>
                <a:spcPts val="500"/>
              </a:spcAft>
            </a:pPr>
            <a:r>
              <a:rPr sz="1600">
                <a:latin typeface="Calibri"/>
              </a:rPr>
              <a:t>    https://docs.python.org/3/library/socket.html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500"/>
              </a:spcAft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latin typeface="Calibri"/>
              </a:rPr>
              <a:t>Project repository: https://github.com/pratitipatlia/http-proxy-server</a:t>
            </a:r>
          </a:p>
          <a:p>
            <a:pPr>
              <a:spcAft>
                <a:spcPts val="500"/>
              </a:spcAft>
            </a:pPr>
            <a:endParaRPr sz="1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1317</Words>
  <Application>Microsoft Office PowerPoint</Application>
  <DocSecurity>0</DocSecurity>
  <PresentationFormat>On-screen Show (4:3)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Calibri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Parul Patlia</cp:lastModifiedBy>
  <cp:revision>3</cp:revision>
  <dcterms:created xsi:type="dcterms:W3CDTF">2026-10-14T10:56:48Z</dcterms:created>
  <dcterms:modified xsi:type="dcterms:W3CDTF">2026-10-24T04:14:49Z</dcterms:modified>
</cp:coreProperties>
</file>